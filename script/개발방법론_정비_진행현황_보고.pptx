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7" r:id="rId4"/>
    <p:sldId id="258" r:id="rId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1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588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24446-7773-2E0C-B678-297D46FC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806CE-9274-E783-081F-A86A81D34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06167-6F50-45F2-C187-EB3EA6A01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4D30D-2D4D-67A7-1FEB-08E3071F6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66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23152b2472330089214781b840aae2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42" name="Shape 4">
            <a:extLst>
              <a:ext uri="{FF2B5EF4-FFF2-40B4-BE49-F238E27FC236}">
                <a16:creationId xmlns:a16="http://schemas.microsoft.com/office/drawing/2014/main" id="{5EEC2E1E-4E80-B5FC-48BF-FE2CCB3ECC3A}"/>
              </a:ext>
            </a:extLst>
          </p:cNvPr>
          <p:cNvSpPr/>
          <p:nvPr/>
        </p:nvSpPr>
        <p:spPr>
          <a:xfrm>
            <a:off x="4343400" y="3144982"/>
            <a:ext cx="9601200" cy="1787236"/>
          </a:xfrm>
          <a:prstGeom prst="rect">
            <a:avLst/>
          </a:prstGeom>
          <a:solidFill>
            <a:srgbClr val="5A8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endParaRPr lang="en-US" altLang="ko-KR" sz="2800" b="1" dirty="0">
              <a:solidFill>
                <a:schemeClr val="bg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en-US" altLang="ko-KR" sz="3600" b="1" dirty="0">
                <a:solidFill>
                  <a:schemeClr val="bg1"/>
                </a:solidFill>
              </a:rPr>
              <a:t>2026</a:t>
            </a:r>
            <a:r>
              <a:rPr lang="ko-KR" altLang="en-US" sz="3600" b="1" dirty="0">
                <a:solidFill>
                  <a:schemeClr val="bg1"/>
                </a:solidFill>
              </a:rPr>
              <a:t>년 </a:t>
            </a:r>
            <a:r>
              <a:rPr lang="en-US" altLang="ko-KR" sz="3600" b="1" dirty="0">
                <a:solidFill>
                  <a:schemeClr val="bg1"/>
                </a:solidFill>
              </a:rPr>
              <a:t>IT</a:t>
            </a:r>
            <a:r>
              <a:rPr lang="ko-KR" altLang="en-US" sz="3600" b="1" dirty="0">
                <a:solidFill>
                  <a:schemeClr val="bg1"/>
                </a:solidFill>
              </a:rPr>
              <a:t>혁신과제 </a:t>
            </a:r>
            <a:endParaRPr lang="en-US" altLang="ko-KR" sz="36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In-House</a:t>
            </a:r>
            <a:r>
              <a:rPr lang="ko-KR" altLang="en-US" b="1" dirty="0">
                <a:solidFill>
                  <a:schemeClr val="bg1"/>
                </a:solidFill>
              </a:rPr>
              <a:t> 개발방법론 진행 현황 보고</a:t>
            </a:r>
            <a:endParaRPr lang="en-US" altLang="ko-KR" b="1" dirty="0">
              <a:solidFill>
                <a:schemeClr val="bg1"/>
              </a:solidFill>
            </a:endParaRPr>
          </a:p>
          <a:p>
            <a:pPr algn="ctr"/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D8629AB8-310D-D201-E782-48226AB73D04}"/>
              </a:ext>
            </a:extLst>
          </p:cNvPr>
          <p:cNvSpPr/>
          <p:nvPr/>
        </p:nvSpPr>
        <p:spPr>
          <a:xfrm>
            <a:off x="12244745" y="6423405"/>
            <a:ext cx="4591202" cy="248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0"/>
            </a:solidFill>
            <a:prstDash val="solid"/>
          </a:ln>
        </p:spPr>
        <p:txBody>
          <a:bodyPr/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수행인원</a:t>
            </a:r>
            <a:r>
              <a:rPr lang="en-US" altLang="ko-KR" b="1" dirty="0"/>
              <a:t>]</a:t>
            </a:r>
          </a:p>
          <a:p>
            <a:endParaRPr lang="en-US" altLang="ko-KR" dirty="0"/>
          </a:p>
          <a:p>
            <a:r>
              <a:rPr lang="ko-KR" altLang="en-US" b="1" dirty="0"/>
              <a:t>관리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임락경 팀장</a:t>
            </a:r>
            <a:r>
              <a:rPr lang="en-US" altLang="ko-KR" dirty="0"/>
              <a:t>, </a:t>
            </a:r>
            <a:r>
              <a:rPr lang="ko-KR" altLang="en-US" dirty="0"/>
              <a:t>조영일 </a:t>
            </a:r>
            <a:r>
              <a:rPr lang="en-US" altLang="ko-KR" dirty="0"/>
              <a:t>PL</a:t>
            </a:r>
          </a:p>
          <a:p>
            <a:r>
              <a:rPr lang="ko-KR" altLang="en-US" b="1" dirty="0"/>
              <a:t>수행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홍진완</a:t>
            </a:r>
            <a:r>
              <a:rPr lang="en-US" altLang="ko-KR" dirty="0"/>
              <a:t> PM, </a:t>
            </a:r>
            <a:r>
              <a:rPr lang="ko-KR" altLang="en-US" dirty="0"/>
              <a:t>최진성 </a:t>
            </a:r>
            <a:r>
              <a:rPr lang="en-US" altLang="ko-KR" dirty="0"/>
              <a:t>PM, </a:t>
            </a:r>
            <a:r>
              <a:rPr lang="ko-KR" altLang="en-US" dirty="0"/>
              <a:t>조지용 </a:t>
            </a:r>
            <a:r>
              <a:rPr lang="en-US" altLang="ko-KR" dirty="0"/>
              <a:t>PM</a:t>
            </a:r>
          </a:p>
          <a:p>
            <a:r>
              <a:rPr lang="en-US" altLang="ko-KR" dirty="0"/>
              <a:t>            </a:t>
            </a:r>
            <a:r>
              <a:rPr lang="ko-KR" altLang="en-US" dirty="0"/>
              <a:t>신주환 </a:t>
            </a:r>
            <a:r>
              <a:rPr lang="en-US" altLang="ko-KR" dirty="0"/>
              <a:t>PM, </a:t>
            </a:r>
            <a:r>
              <a:rPr lang="ko-KR" altLang="en-US" dirty="0"/>
              <a:t>김다빈 </a:t>
            </a:r>
            <a:r>
              <a:rPr lang="en-US" altLang="ko-KR" dirty="0"/>
              <a:t>PM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                                                               2026.09</a:t>
            </a:r>
          </a:p>
          <a:p>
            <a:endParaRPr lang="ko-KR" altLang="en-US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7B839FA-D061-7DCA-7ABB-51B9F31CC868}"/>
              </a:ext>
            </a:extLst>
          </p:cNvPr>
          <p:cNvCxnSpPr>
            <a:cxnSpLocks/>
          </p:cNvCxnSpPr>
          <p:nvPr/>
        </p:nvCxnSpPr>
        <p:spPr>
          <a:xfrm>
            <a:off x="5999019" y="4350328"/>
            <a:ext cx="660861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54CA-D444-C0D2-028C-9BE01BD3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23152b2472330089214781b840aae21.png">
            <a:extLst>
              <a:ext uri="{FF2B5EF4-FFF2-40B4-BE49-F238E27FC236}">
                <a16:creationId xmlns:a16="http://schemas.microsoft.com/office/drawing/2014/main" id="{AF218321-4120-5A65-A265-5C2600DD7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3" name="Image 1" descr="gen-dedup-f82dfb75c5f2b7b3330bfb2008b09100.png">
            <a:extLst>
              <a:ext uri="{FF2B5EF4-FFF2-40B4-BE49-F238E27FC236}">
                <a16:creationId xmlns:a16="http://schemas.microsoft.com/office/drawing/2014/main" id="{A08BCCD3-79AF-D222-F620-8CF27D0B1B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2952598"/>
            <a:ext cx="16002000" cy="914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C4A78FA7-A844-CC85-A3A1-71DCD3CE755D}"/>
              </a:ext>
            </a:extLst>
          </p:cNvPr>
          <p:cNvSpPr/>
          <p:nvPr/>
        </p:nvSpPr>
        <p:spPr>
          <a:xfrm>
            <a:off x="1143000" y="3429000"/>
            <a:ext cx="7830007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CBA0692-367A-CFD3-9FA1-A3078109F6F0}"/>
              </a:ext>
            </a:extLst>
          </p:cNvPr>
          <p:cNvSpPr/>
          <p:nvPr/>
        </p:nvSpPr>
        <p:spPr>
          <a:xfrm>
            <a:off x="9334195" y="3429000"/>
            <a:ext cx="7830007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89EB767-77CA-488C-73FB-EED18C1A4E87}"/>
              </a:ext>
            </a:extLst>
          </p:cNvPr>
          <p:cNvSpPr/>
          <p:nvPr/>
        </p:nvSpPr>
        <p:spPr>
          <a:xfrm>
            <a:off x="1524305" y="3810305"/>
            <a:ext cx="2095805" cy="342900"/>
          </a:xfrm>
          <a:prstGeom prst="rect">
            <a:avLst/>
          </a:prstGeom>
          <a:solidFill>
            <a:srgbClr val="1F3D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gen-dedup-4668a3cfff5b9725e4c71ff5249de04e.png">
            <a:extLst>
              <a:ext uri="{FF2B5EF4-FFF2-40B4-BE49-F238E27FC236}">
                <a16:creationId xmlns:a16="http://schemas.microsoft.com/office/drawing/2014/main" id="{5689F5AC-F60D-B71D-B922-AB7D5F7E83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524305" y="4953305"/>
            <a:ext cx="571500" cy="28346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7B7A45DD-0FA9-C321-8179-5B17D8CD8EF1}"/>
              </a:ext>
            </a:extLst>
          </p:cNvPr>
          <p:cNvSpPr/>
          <p:nvPr/>
        </p:nvSpPr>
        <p:spPr>
          <a:xfrm>
            <a:off x="9715500" y="3810305"/>
            <a:ext cx="2095805" cy="342900"/>
          </a:xfrm>
          <a:prstGeom prst="rect">
            <a:avLst/>
          </a:prstGeom>
          <a:solidFill>
            <a:srgbClr val="1F3D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3" descr="gen-dedup-4668a3cfff5b9725e4c71ff5249de04e.png">
            <a:extLst>
              <a:ext uri="{FF2B5EF4-FFF2-40B4-BE49-F238E27FC236}">
                <a16:creationId xmlns:a16="http://schemas.microsoft.com/office/drawing/2014/main" id="{0F22B41F-DDBC-945C-1C0F-F0EAB9CB24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9715500" y="4953305"/>
            <a:ext cx="571500" cy="28346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41456E16-4AEE-C45E-DF0B-6C9C79193AC3}"/>
              </a:ext>
            </a:extLst>
          </p:cNvPr>
          <p:cNvSpPr txBox="1"/>
          <p:nvPr/>
        </p:nvSpPr>
        <p:spPr>
          <a:xfrm>
            <a:off x="1143000" y="6665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00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BRIEFING · 01 / 03</a:t>
            </a:r>
            <a:endParaRPr lang="en-US" sz="1125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F0F2D76-31E0-C20F-63D1-7BF234803459}"/>
              </a:ext>
            </a:extLst>
          </p:cNvPr>
          <p:cNvSpPr txBox="1"/>
          <p:nvPr/>
        </p:nvSpPr>
        <p:spPr>
          <a:xfrm>
            <a:off x="14859000" y="666598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50" dirty="0">
                <a:solidFill>
                  <a:srgbClr val="7A8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· Q3 REPORT</a:t>
            </a:r>
            <a:endParaRPr lang="en-US" sz="1125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816CF4E2-6C21-75DD-9203-F8EE7E7FBD67}"/>
              </a:ext>
            </a:extLst>
          </p:cNvPr>
          <p:cNvSpPr txBox="1"/>
          <p:nvPr/>
        </p:nvSpPr>
        <p:spPr>
          <a:xfrm>
            <a:off x="1143000" y="1238098"/>
            <a:ext cx="1600200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진행현황 </a:t>
            </a:r>
            <a:r>
              <a:rPr lang="en-US" sz="4800" b="1" kern="0" spc="-112" dirty="0">
                <a:solidFill>
                  <a:srgbClr val="7A8A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4800" b="1" kern="0" spc="-112" dirty="0">
                <a:solidFill>
                  <a:srgbClr val="5A7A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개발방법론 정비 완료</a:t>
            </a:r>
            <a:endParaRPr lang="en-US" sz="48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9D2C591-2F8C-5E4B-6E4F-2781287E93A6}"/>
              </a:ext>
            </a:extLst>
          </p:cNvPr>
          <p:cNvSpPr txBox="1"/>
          <p:nvPr/>
        </p:nvSpPr>
        <p:spPr>
          <a:xfrm>
            <a:off x="1143000" y="2190902"/>
            <a:ext cx="1600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3월 착수 이후 개발방법론 본체 정비와 AI 코딩 어시스턴트 활용 가이드 신규 제정을 완료하였습니다.</a:t>
            </a:r>
            <a:endParaRPr lang="en-US" sz="16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FBED710-2FC4-E823-9799-DBD17296F499}"/>
              </a:ext>
            </a:extLst>
          </p:cNvPr>
          <p:cNvSpPr txBox="1"/>
          <p:nvPr/>
        </p:nvSpPr>
        <p:spPr>
          <a:xfrm>
            <a:off x="1524305" y="3810305"/>
            <a:ext cx="2095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2026.03 — 2026.06</a:t>
            </a:r>
            <a:endParaRPr lang="en-US" sz="10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DE85AE61-264B-EE2C-AC1A-63A52B7B7D97}"/>
              </a:ext>
            </a:extLst>
          </p:cNvPr>
          <p:cNvSpPr txBox="1"/>
          <p:nvPr/>
        </p:nvSpPr>
        <p:spPr>
          <a:xfrm>
            <a:off x="6858000" y="3696005"/>
            <a:ext cx="1714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4200" dirty="0">
                <a:solidFill>
                  <a:srgbClr val="C5C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2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9DFCC19-E917-BCDB-1BEF-93EF33802BE3}"/>
              </a:ext>
            </a:extLst>
          </p:cNvPr>
          <p:cNvSpPr txBox="1"/>
          <p:nvPr/>
        </p:nvSpPr>
        <p:spPr>
          <a:xfrm>
            <a:off x="1524305" y="4381805"/>
            <a:ext cx="7049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37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개발방법론 정비</a:t>
            </a:r>
            <a:endParaRPr lang="en-US" sz="255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5FC9A86-96AC-CE6A-51C1-B52CF930F732}"/>
              </a:ext>
            </a:extLst>
          </p:cNvPr>
          <p:cNvSpPr txBox="1"/>
          <p:nvPr/>
        </p:nvSpPr>
        <p:spPr>
          <a:xfrm>
            <a:off x="1524305" y="5238598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개발비 산정내역서 현실화</a:t>
            </a:r>
            <a:endParaRPr lang="en-US" sz="1425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2D415910-EAD6-7330-EFFD-6749181C788E}"/>
              </a:ext>
            </a:extLst>
          </p:cNvPr>
          <p:cNvSpPr/>
          <p:nvPr/>
        </p:nvSpPr>
        <p:spPr>
          <a:xfrm>
            <a:off x="1524305" y="5567782"/>
            <a:ext cx="19202" cy="256946"/>
          </a:xfrm>
          <a:prstGeom prst="rect">
            <a:avLst/>
          </a:prstGeom>
          <a:solidFill>
            <a:srgbClr val="DFE4E0"/>
          </a:solidFill>
          <a:ln w="12700">
            <a:solidFill>
              <a:srgbClr val="DFE4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26D5D0D2-9E14-D624-38BA-D2F988FCD1A6}"/>
              </a:ext>
            </a:extLst>
          </p:cNvPr>
          <p:cNvSpPr txBox="1"/>
          <p:nvPr/>
        </p:nvSpPr>
        <p:spPr>
          <a:xfrm>
            <a:off x="1677010" y="5567782"/>
            <a:ext cx="68964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현실에 맞지 않는 보정계수 삭제 및 이행 · 완료 공정 공수 산정방식 변경</a:t>
            </a:r>
            <a:endParaRPr lang="en-US" sz="12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D1217BA8-4D44-8724-E5B0-DB759E5F3312}"/>
              </a:ext>
            </a:extLst>
          </p:cNvPr>
          <p:cNvSpPr txBox="1"/>
          <p:nvPr/>
        </p:nvSpPr>
        <p:spPr>
          <a:xfrm>
            <a:off x="1524305" y="6046927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지침 내용 정비</a:t>
            </a:r>
            <a:endParaRPr lang="en-US" sz="1425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31EA09E0-6C46-4E8C-B161-B5D3ABB9B235}"/>
              </a:ext>
            </a:extLst>
          </p:cNvPr>
          <p:cNvSpPr/>
          <p:nvPr/>
        </p:nvSpPr>
        <p:spPr>
          <a:xfrm>
            <a:off x="1524305" y="6376111"/>
            <a:ext cx="19202" cy="256946"/>
          </a:xfrm>
          <a:prstGeom prst="rect">
            <a:avLst/>
          </a:prstGeom>
          <a:solidFill>
            <a:srgbClr val="DFE4E0"/>
          </a:solidFill>
          <a:ln w="12700">
            <a:solidFill>
              <a:srgbClr val="DFE4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B8A2C967-9591-A6FC-8524-DC34C6C9C06E}"/>
              </a:ext>
            </a:extLst>
          </p:cNvPr>
          <p:cNvSpPr txBox="1"/>
          <p:nvPr/>
        </p:nvSpPr>
        <p:spPr>
          <a:xfrm>
            <a:off x="1677010" y="6376111"/>
            <a:ext cx="68964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공정 내 보안취약점 점검 Activity 단계 신규 추가</a:t>
            </a:r>
            <a:endParaRPr lang="en-US" sz="12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1C698F89-396D-B5E5-C1CB-E5979A70F111}"/>
              </a:ext>
            </a:extLst>
          </p:cNvPr>
          <p:cNvSpPr txBox="1"/>
          <p:nvPr/>
        </p:nvSpPr>
        <p:spPr>
          <a:xfrm>
            <a:off x="1524305" y="6856171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r>
              <a:rPr 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 방법 반영</a:t>
            </a:r>
            <a:endParaRPr lang="en-US" sz="1425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EA5EA9DC-D046-79E1-568C-EED3DFC8E980}"/>
              </a:ext>
            </a:extLst>
          </p:cNvPr>
          <p:cNvSpPr/>
          <p:nvPr/>
        </p:nvSpPr>
        <p:spPr>
          <a:xfrm>
            <a:off x="1524305" y="7184441"/>
            <a:ext cx="19202" cy="256946"/>
          </a:xfrm>
          <a:prstGeom prst="rect">
            <a:avLst/>
          </a:prstGeom>
          <a:solidFill>
            <a:srgbClr val="DFE4E0"/>
          </a:solidFill>
          <a:ln w="12700">
            <a:solidFill>
              <a:srgbClr val="DFE4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1D906A3-E5B4-288C-3A3B-73898F017D1C}"/>
              </a:ext>
            </a:extLst>
          </p:cNvPr>
          <p:cNvSpPr txBox="1"/>
          <p:nvPr/>
        </p:nvSpPr>
        <p:spPr>
          <a:xfrm>
            <a:off x="1677010" y="7184441"/>
            <a:ext cx="68964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외부설계 · 구현 · 테스트 공정에 Cursor 활용 가이드 추가</a:t>
            </a:r>
            <a:endParaRPr lang="en-US" sz="12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82AB6D87-0937-7440-14F9-7C58363EE61A}"/>
              </a:ext>
            </a:extLst>
          </p:cNvPr>
          <p:cNvSpPr txBox="1"/>
          <p:nvPr/>
        </p:nvSpPr>
        <p:spPr>
          <a:xfrm>
            <a:off x="9715500" y="3810305"/>
            <a:ext cx="2095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2026.06 — 2026.08</a:t>
            </a:r>
            <a:endParaRPr lang="en-US" sz="105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640A1E81-E23F-EEB4-BD55-CD9F8E45EE1C}"/>
              </a:ext>
            </a:extLst>
          </p:cNvPr>
          <p:cNvSpPr txBox="1"/>
          <p:nvPr/>
        </p:nvSpPr>
        <p:spPr>
          <a:xfrm>
            <a:off x="15049195" y="3696005"/>
            <a:ext cx="1714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4200" dirty="0">
                <a:solidFill>
                  <a:srgbClr val="C5C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2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EB6A6B48-3A31-F717-A4BB-3EFD9CC171F0}"/>
              </a:ext>
            </a:extLst>
          </p:cNvPr>
          <p:cNvSpPr txBox="1"/>
          <p:nvPr/>
        </p:nvSpPr>
        <p:spPr>
          <a:xfrm>
            <a:off x="9715500" y="4381805"/>
            <a:ext cx="7049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37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 신규 추가</a:t>
            </a:r>
            <a:endParaRPr lang="en-US" sz="255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04F4F9B-D4D2-E06F-E368-DB9D441E6431}"/>
              </a:ext>
            </a:extLst>
          </p:cNvPr>
          <p:cNvSpPr txBox="1"/>
          <p:nvPr/>
        </p:nvSpPr>
        <p:spPr>
          <a:xfrm>
            <a:off x="9715500" y="5238598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코딩 어시스턴트 사용 가이드</a:t>
            </a:r>
            <a:endParaRPr lang="en-US" sz="1425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B8154AB0-D1EC-6B95-58CB-0275A7A0C09C}"/>
              </a:ext>
            </a:extLst>
          </p:cNvPr>
          <p:cNvSpPr txBox="1"/>
          <p:nvPr/>
        </p:nvSpPr>
        <p:spPr>
          <a:xfrm>
            <a:off x="9715500" y="5605272"/>
            <a:ext cx="1248156" cy="333756"/>
          </a:xfrm>
          <a:prstGeom prst="rect">
            <a:avLst/>
          </a:prstGeom>
          <a:solidFill>
            <a:srgbClr val="EEF2EF"/>
          </a:solidFill>
          <a:ln w="12700">
            <a:solidFill>
              <a:srgbClr val="D5DFD8"/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설계표준 가이드</a:t>
            </a:r>
            <a:endParaRPr lang="en-US" sz="1125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F32B38ED-6BAB-6695-3189-D20DDBEE95D3}"/>
              </a:ext>
            </a:extLst>
          </p:cNvPr>
          <p:cNvSpPr txBox="1"/>
          <p:nvPr/>
        </p:nvSpPr>
        <p:spPr>
          <a:xfrm>
            <a:off x="11037722" y="5605272"/>
            <a:ext cx="1248156" cy="333756"/>
          </a:xfrm>
          <a:prstGeom prst="rect">
            <a:avLst/>
          </a:prstGeom>
          <a:solidFill>
            <a:srgbClr val="EEF2EF"/>
          </a:solidFill>
          <a:ln w="12700">
            <a:solidFill>
              <a:srgbClr val="D5DFD8"/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보안코딩 가이드</a:t>
            </a:r>
            <a:endParaRPr lang="en-US" sz="1125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26D77112-7F49-7681-F013-B5EBD091A185}"/>
              </a:ext>
            </a:extLst>
          </p:cNvPr>
          <p:cNvSpPr txBox="1"/>
          <p:nvPr/>
        </p:nvSpPr>
        <p:spPr>
          <a:xfrm>
            <a:off x="12359945" y="5605272"/>
            <a:ext cx="1124712" cy="333756"/>
          </a:xfrm>
          <a:prstGeom prst="rect">
            <a:avLst/>
          </a:prstGeom>
          <a:solidFill>
            <a:srgbClr val="EEF2EF"/>
          </a:solidFill>
          <a:ln w="12700">
            <a:solidFill>
              <a:srgbClr val="D5DFD8"/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가이드</a:t>
            </a:r>
            <a:endParaRPr lang="en-US" sz="1125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74F2125E-8BD5-76E3-E4A4-080A0EFCDD4B}"/>
              </a:ext>
            </a:extLst>
          </p:cNvPr>
          <p:cNvSpPr txBox="1"/>
          <p:nvPr/>
        </p:nvSpPr>
        <p:spPr>
          <a:xfrm>
            <a:off x="9715500" y="6167628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사용 가이드</a:t>
            </a:r>
            <a:endParaRPr lang="en-US" sz="1425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E7256704-308A-CCE6-4006-3B390AC7D05F}"/>
              </a:ext>
            </a:extLst>
          </p:cNvPr>
          <p:cNvSpPr/>
          <p:nvPr/>
        </p:nvSpPr>
        <p:spPr>
          <a:xfrm>
            <a:off x="9715500" y="6495898"/>
            <a:ext cx="19202" cy="256946"/>
          </a:xfrm>
          <a:prstGeom prst="rect">
            <a:avLst/>
          </a:prstGeom>
          <a:solidFill>
            <a:srgbClr val="DFE4E0"/>
          </a:solidFill>
          <a:ln w="12700">
            <a:solidFill>
              <a:srgbClr val="DFE4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C7FBA5E7-E1EB-37C1-DF64-7820005C8DD8}"/>
              </a:ext>
            </a:extLst>
          </p:cNvPr>
          <p:cNvSpPr txBox="1"/>
          <p:nvPr/>
        </p:nvSpPr>
        <p:spPr>
          <a:xfrm>
            <a:off x="9868205" y="6495898"/>
            <a:ext cx="68964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형상관리 표준 작업 절차 정립</a:t>
            </a:r>
            <a:endParaRPr lang="en-US" sz="12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F14132F9-1FFF-A48A-B7C5-15E5DA1B2F62}"/>
              </a:ext>
            </a:extLst>
          </p:cNvPr>
          <p:cNvSpPr txBox="1"/>
          <p:nvPr/>
        </p:nvSpPr>
        <p:spPr>
          <a:xfrm>
            <a:off x="9715500" y="6975958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외주개발자 투입 전 가이드</a:t>
            </a:r>
            <a:endParaRPr lang="en-US" sz="1425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C9C15F82-1337-E506-75FD-D95F3F5FBD3B}"/>
              </a:ext>
            </a:extLst>
          </p:cNvPr>
          <p:cNvSpPr/>
          <p:nvPr/>
        </p:nvSpPr>
        <p:spPr>
          <a:xfrm>
            <a:off x="9715500" y="7304227"/>
            <a:ext cx="19202" cy="256946"/>
          </a:xfrm>
          <a:prstGeom prst="rect">
            <a:avLst/>
          </a:prstGeom>
          <a:solidFill>
            <a:srgbClr val="DFE4E0"/>
          </a:solidFill>
          <a:ln w="12700">
            <a:solidFill>
              <a:srgbClr val="DFE4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3C79A426-E656-A02B-66BB-9EC1850A062C}"/>
              </a:ext>
            </a:extLst>
          </p:cNvPr>
          <p:cNvSpPr txBox="1"/>
          <p:nvPr/>
        </p:nvSpPr>
        <p:spPr>
          <a:xfrm>
            <a:off x="9868205" y="7304227"/>
            <a:ext cx="68964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전 필수 숙지사항 및 온보딩 절차 정의</a:t>
            </a:r>
            <a:endParaRPr lang="en-US" sz="12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53A7EC82-393E-676E-865C-19746AB87769}"/>
              </a:ext>
            </a:extLst>
          </p:cNvPr>
          <p:cNvSpPr txBox="1"/>
          <p:nvPr/>
        </p:nvSpPr>
        <p:spPr>
          <a:xfrm>
            <a:off x="1143000" y="9715500"/>
            <a:ext cx="37344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8A96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METHODOLOGY REVISION · STATUS REPORT</a:t>
            </a:r>
            <a:endParaRPr lang="en-US" sz="975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64D671C2-B5E0-F7A6-356C-2E1D0A37CCF6}"/>
              </a:ext>
            </a:extLst>
          </p:cNvPr>
          <p:cNvSpPr txBox="1"/>
          <p:nvPr/>
        </p:nvSpPr>
        <p:spPr>
          <a:xfrm>
            <a:off x="16166592" y="9715500"/>
            <a:ext cx="124907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8A96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01 / 03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292117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23152b2472330089214781b840aae2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3" name="Image 1" descr="gen-dedup-f82dfb75c5f2b7b3330bfb2008b09100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2952598"/>
            <a:ext cx="160020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4095598"/>
            <a:ext cx="2095805" cy="2667305"/>
          </a:xfrm>
          <a:prstGeom prst="rect">
            <a:avLst/>
          </a:prstGeom>
          <a:solidFill>
            <a:srgbClr val="1F3D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"/>
          <p:cNvSpPr/>
          <p:nvPr/>
        </p:nvSpPr>
        <p:spPr>
          <a:xfrm>
            <a:off x="3333902" y="4095598"/>
            <a:ext cx="2095805" cy="2667305"/>
          </a:xfrm>
          <a:prstGeom prst="rect">
            <a:avLst/>
          </a:prstGeom>
          <a:solidFill>
            <a:srgbClr val="2D55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5524805" y="4095598"/>
            <a:ext cx="2095805" cy="2667305"/>
          </a:xfrm>
          <a:prstGeom prst="rect">
            <a:avLst/>
          </a:prstGeom>
          <a:solidFill>
            <a:srgbClr val="3D6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8001000" y="4095598"/>
            <a:ext cx="4209898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2573000" y="4095598"/>
            <a:ext cx="4591202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143000" y="7334402"/>
            <a:ext cx="16002000" cy="1714500"/>
          </a:xfrm>
          <a:prstGeom prst="rect">
            <a:avLst/>
          </a:prstGeom>
          <a:solidFill>
            <a:srgbClr val="EEF2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gen-dedup-8e03f6d59e367a223fc9712b1e00fc29.png"/>
          <p:cNvPicPr>
            <a:picLocks noChangeAspect="1"/>
          </p:cNvPicPr>
          <p:nvPr/>
        </p:nvPicPr>
        <p:blipFill>
          <a:blip r:embed="rId5"/>
          <a:srcRect t="-320" b="-320"/>
          <a:stretch/>
        </p:blipFill>
        <p:spPr>
          <a:xfrm>
            <a:off x="1429207" y="5048402"/>
            <a:ext cx="286207" cy="19202"/>
          </a:xfrm>
          <a:prstGeom prst="rect">
            <a:avLst/>
          </a:prstGeom>
        </p:spPr>
      </p:pic>
      <p:pic>
        <p:nvPicPr>
          <p:cNvPr id="11" name="Image 3" descr="gen-dedup-c131f7b8054669b921c3ae1957c54ec4.png"/>
          <p:cNvPicPr>
            <a:picLocks noChangeAspect="1"/>
          </p:cNvPicPr>
          <p:nvPr/>
        </p:nvPicPr>
        <p:blipFill>
          <a:blip r:embed="rId6"/>
          <a:srcRect t="-320" b="-320"/>
          <a:stretch/>
        </p:blipFill>
        <p:spPr>
          <a:xfrm>
            <a:off x="3619195" y="5048402"/>
            <a:ext cx="286207" cy="19202"/>
          </a:xfrm>
          <a:prstGeom prst="rect">
            <a:avLst/>
          </a:prstGeom>
        </p:spPr>
      </p:pic>
      <p:pic>
        <p:nvPicPr>
          <p:cNvPr id="12" name="Image 4" descr="gen-dedup-87157ceb08168704ed7780d27adefcbe.png"/>
          <p:cNvPicPr>
            <a:picLocks noChangeAspect="1"/>
          </p:cNvPicPr>
          <p:nvPr/>
        </p:nvPicPr>
        <p:blipFill>
          <a:blip r:embed="rId7"/>
          <a:srcRect t="-320" b="-320"/>
          <a:stretch/>
        </p:blipFill>
        <p:spPr>
          <a:xfrm>
            <a:off x="5810098" y="5048402"/>
            <a:ext cx="286207" cy="19202"/>
          </a:xfrm>
          <a:prstGeom prst="rect">
            <a:avLst/>
          </a:prstGeom>
        </p:spPr>
      </p:pic>
      <p:pic>
        <p:nvPicPr>
          <p:cNvPr id="13" name="Image 5" descr="gen-dedup-8e03f6d59e367a223fc9712b1e00fc29.png"/>
          <p:cNvPicPr>
            <a:picLocks noChangeAspect="1"/>
          </p:cNvPicPr>
          <p:nvPr/>
        </p:nvPicPr>
        <p:blipFill>
          <a:blip r:embed="rId5"/>
          <a:srcRect t="-320" b="-320"/>
          <a:stretch/>
        </p:blipFill>
        <p:spPr>
          <a:xfrm>
            <a:off x="8382305" y="5048402"/>
            <a:ext cx="286207" cy="19202"/>
          </a:xfrm>
          <a:prstGeom prst="rect">
            <a:avLst/>
          </a:prstGeom>
        </p:spPr>
      </p:pic>
      <p:pic>
        <p:nvPicPr>
          <p:cNvPr id="14" name="Image 6" descr="gen-dedup-8e03f6d59e367a223fc9712b1e00fc29.png"/>
          <p:cNvPicPr>
            <a:picLocks noChangeAspect="1"/>
          </p:cNvPicPr>
          <p:nvPr/>
        </p:nvPicPr>
        <p:blipFill>
          <a:blip r:embed="rId5"/>
          <a:srcRect t="-320" b="-320"/>
          <a:stretch/>
        </p:blipFill>
        <p:spPr>
          <a:xfrm>
            <a:off x="12954305" y="5048402"/>
            <a:ext cx="286207" cy="19202"/>
          </a:xfrm>
          <a:prstGeom prst="rect">
            <a:avLst/>
          </a:prstGeom>
        </p:spPr>
      </p:pic>
      <p:pic>
        <p:nvPicPr>
          <p:cNvPr id="15" name="Image 7" descr="gen-dedup-7e3fb01b3cd5be4991b99f744120d8cb.png"/>
          <p:cNvPicPr>
            <a:picLocks noChangeAspect="1"/>
          </p:cNvPicPr>
          <p:nvPr/>
        </p:nvPicPr>
        <p:blipFill>
          <a:blip r:embed="rId8"/>
          <a:srcRect t="-2100" b="-2100"/>
          <a:stretch/>
        </p:blipFill>
        <p:spPr>
          <a:xfrm>
            <a:off x="5715000" y="7715707"/>
            <a:ext cx="9144" cy="952805"/>
          </a:xfrm>
          <a:prstGeom prst="rect">
            <a:avLst/>
          </a:prstGeom>
        </p:spPr>
      </p:pic>
      <p:pic>
        <p:nvPicPr>
          <p:cNvPr id="16" name="Image 8" descr="gen-dedup-7e3fb01b3cd5be4991b99f744120d8cb.png"/>
          <p:cNvPicPr>
            <a:picLocks noChangeAspect="1"/>
          </p:cNvPicPr>
          <p:nvPr/>
        </p:nvPicPr>
        <p:blipFill>
          <a:blip r:embed="rId8"/>
          <a:srcRect t="-2100" b="-2100"/>
          <a:stretch/>
        </p:blipFill>
        <p:spPr>
          <a:xfrm>
            <a:off x="10287000" y="7715707"/>
            <a:ext cx="9144" cy="95280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143000" y="6665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00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BRIEFING · 02 / 03</a:t>
            </a:r>
            <a:endParaRPr lang="en-US" sz="1125" dirty="0"/>
          </a:p>
        </p:txBody>
      </p:sp>
      <p:sp>
        <p:nvSpPr>
          <p:cNvPr id="18" name="Text 7"/>
          <p:cNvSpPr txBox="1"/>
          <p:nvPr/>
        </p:nvSpPr>
        <p:spPr>
          <a:xfrm>
            <a:off x="14859000" y="666598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50" dirty="0">
                <a:solidFill>
                  <a:srgbClr val="7A8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· Q3 REPORT</a:t>
            </a:r>
            <a:endParaRPr lang="en-US" sz="1125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1238098"/>
            <a:ext cx="1600200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가이드 </a:t>
            </a:r>
            <a:r>
              <a:rPr lang="en-US" sz="4800" b="1" kern="0" spc="-112" dirty="0">
                <a:solidFill>
                  <a:srgbClr val="7A8A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4800" b="1" kern="0" spc="-112" dirty="0">
                <a:solidFill>
                  <a:srgbClr val="5A7A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제정 상세</a:t>
            </a:r>
            <a:endParaRPr lang="en-US" sz="4800" dirty="0"/>
          </a:p>
        </p:txBody>
      </p:sp>
      <p:sp>
        <p:nvSpPr>
          <p:cNvPr id="20" name="Text 9"/>
          <p:cNvSpPr txBox="1"/>
          <p:nvPr/>
        </p:nvSpPr>
        <p:spPr>
          <a:xfrm>
            <a:off x="1143000" y="2190902"/>
            <a:ext cx="1600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생산성 향상과 품질 확보를 위해 3개 영역, 총 5종의 가이드를 신규 제정하였습니다.</a:t>
            </a:r>
            <a:endParaRPr lang="en-US" sz="1650" dirty="0"/>
          </a:p>
        </p:txBody>
      </p:sp>
      <p:sp>
        <p:nvSpPr>
          <p:cNvPr id="21" name="Text 10"/>
          <p:cNvSpPr txBox="1"/>
          <p:nvPr/>
        </p:nvSpPr>
        <p:spPr>
          <a:xfrm>
            <a:off x="1143000" y="3238805"/>
            <a:ext cx="533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25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 01</a:t>
            </a:r>
            <a:endParaRPr lang="en-US" sz="1050" dirty="0"/>
          </a:p>
        </p:txBody>
      </p:sp>
      <p:sp>
        <p:nvSpPr>
          <p:cNvPr id="22" name="Text 11"/>
          <p:cNvSpPr txBox="1"/>
          <p:nvPr/>
        </p:nvSpPr>
        <p:spPr>
          <a:xfrm>
            <a:off x="1143000" y="3457346"/>
            <a:ext cx="533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코딩 어시스턴트</a:t>
            </a:r>
            <a:endParaRPr lang="en-US" sz="1950" dirty="0"/>
          </a:p>
        </p:txBody>
      </p:sp>
      <p:sp>
        <p:nvSpPr>
          <p:cNvPr id="23" name="Text 12"/>
          <p:cNvSpPr txBox="1"/>
          <p:nvPr/>
        </p:nvSpPr>
        <p:spPr>
          <a:xfrm>
            <a:off x="7619695" y="3238805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25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 02</a:t>
            </a:r>
            <a:endParaRPr lang="en-US" sz="1050" dirty="0"/>
          </a:p>
        </p:txBody>
      </p:sp>
      <p:sp>
        <p:nvSpPr>
          <p:cNvPr id="24" name="Text 13"/>
          <p:cNvSpPr txBox="1"/>
          <p:nvPr/>
        </p:nvSpPr>
        <p:spPr>
          <a:xfrm>
            <a:off x="7619695" y="3457346"/>
            <a:ext cx="3810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형상관리</a:t>
            </a:r>
            <a:endParaRPr lang="en-US" sz="1950" dirty="0"/>
          </a:p>
        </p:txBody>
      </p:sp>
      <p:sp>
        <p:nvSpPr>
          <p:cNvPr id="25" name="Text 14"/>
          <p:cNvSpPr txBox="1"/>
          <p:nvPr/>
        </p:nvSpPr>
        <p:spPr>
          <a:xfrm>
            <a:off x="12573000" y="3238805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25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 03</a:t>
            </a:r>
            <a:endParaRPr lang="en-US" sz="1050" dirty="0"/>
          </a:p>
        </p:txBody>
      </p:sp>
      <p:sp>
        <p:nvSpPr>
          <p:cNvPr id="26" name="Text 15"/>
          <p:cNvSpPr txBox="1"/>
          <p:nvPr/>
        </p:nvSpPr>
        <p:spPr>
          <a:xfrm>
            <a:off x="12573000" y="3457346"/>
            <a:ext cx="4572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외주 인력 관리</a:t>
            </a:r>
            <a:endParaRPr lang="en-US" sz="1950" dirty="0"/>
          </a:p>
        </p:txBody>
      </p:sp>
      <p:sp>
        <p:nvSpPr>
          <p:cNvPr id="27" name="Text 16"/>
          <p:cNvSpPr txBox="1"/>
          <p:nvPr/>
        </p:nvSpPr>
        <p:spPr>
          <a:xfrm>
            <a:off x="1429207" y="4381805"/>
            <a:ext cx="1524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300" dirty="0"/>
          </a:p>
        </p:txBody>
      </p:sp>
      <p:sp>
        <p:nvSpPr>
          <p:cNvPr id="28" name="Text 17"/>
          <p:cNvSpPr txBox="1"/>
          <p:nvPr/>
        </p:nvSpPr>
        <p:spPr>
          <a:xfrm>
            <a:off x="1429207" y="5238598"/>
            <a:ext cx="1524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설계표준</a:t>
            </a:r>
            <a:endParaRPr lang="en-US" sz="16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</a:t>
            </a:r>
            <a:endParaRPr lang="en-US" sz="1650" dirty="0"/>
          </a:p>
        </p:txBody>
      </p:sp>
      <p:sp>
        <p:nvSpPr>
          <p:cNvPr id="29" name="Text 18"/>
          <p:cNvSpPr txBox="1"/>
          <p:nvPr/>
        </p:nvSpPr>
        <p:spPr>
          <a:xfrm>
            <a:off x="1429207" y="5897880"/>
            <a:ext cx="1524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8B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설계 산출물 표준 정의</a:t>
            </a:r>
            <a:endParaRPr lang="en-US" sz="1050" dirty="0"/>
          </a:p>
        </p:txBody>
      </p:sp>
      <p:sp>
        <p:nvSpPr>
          <p:cNvPr id="30" name="Text 19"/>
          <p:cNvSpPr txBox="1"/>
          <p:nvPr/>
        </p:nvSpPr>
        <p:spPr>
          <a:xfrm>
            <a:off x="3619195" y="4381805"/>
            <a:ext cx="1524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7AAB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300" dirty="0"/>
          </a:p>
        </p:txBody>
      </p:sp>
      <p:sp>
        <p:nvSpPr>
          <p:cNvPr id="31" name="Text 20"/>
          <p:cNvSpPr txBox="1"/>
          <p:nvPr/>
        </p:nvSpPr>
        <p:spPr>
          <a:xfrm>
            <a:off x="3619195" y="5238598"/>
            <a:ext cx="1524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보안코딩</a:t>
            </a:r>
            <a:endParaRPr lang="en-US" sz="16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</a:t>
            </a:r>
            <a:endParaRPr lang="en-US" sz="1650" dirty="0"/>
          </a:p>
        </p:txBody>
      </p:sp>
      <p:sp>
        <p:nvSpPr>
          <p:cNvPr id="32" name="Text 21"/>
          <p:cNvSpPr txBox="1"/>
          <p:nvPr/>
        </p:nvSpPr>
        <p:spPr>
          <a:xfrm>
            <a:off x="3619195" y="5897880"/>
            <a:ext cx="185074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C8C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취약점 사전 예방 코딩 규칙</a:t>
            </a:r>
            <a:endParaRPr lang="en-US" sz="1050" dirty="0"/>
          </a:p>
        </p:txBody>
      </p:sp>
      <p:sp>
        <p:nvSpPr>
          <p:cNvPr id="33" name="Text 22"/>
          <p:cNvSpPr txBox="1"/>
          <p:nvPr/>
        </p:nvSpPr>
        <p:spPr>
          <a:xfrm>
            <a:off x="5810098" y="4381805"/>
            <a:ext cx="1524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9DC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300" dirty="0"/>
          </a:p>
        </p:txBody>
      </p:sp>
      <p:sp>
        <p:nvSpPr>
          <p:cNvPr id="34" name="Text 23"/>
          <p:cNvSpPr txBox="1"/>
          <p:nvPr/>
        </p:nvSpPr>
        <p:spPr>
          <a:xfrm>
            <a:off x="5810098" y="5238598"/>
            <a:ext cx="1524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6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</a:t>
            </a:r>
            <a:endParaRPr lang="en-US" sz="1650" dirty="0"/>
          </a:p>
        </p:txBody>
      </p:sp>
      <p:sp>
        <p:nvSpPr>
          <p:cNvPr id="35" name="Text 24"/>
          <p:cNvSpPr txBox="1"/>
          <p:nvPr/>
        </p:nvSpPr>
        <p:spPr>
          <a:xfrm>
            <a:off x="5810098" y="5897880"/>
            <a:ext cx="180228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8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테스트케이스 작성</a:t>
            </a:r>
            <a:endParaRPr lang="en-US" sz="1050" dirty="0"/>
          </a:p>
        </p:txBody>
      </p:sp>
      <p:sp>
        <p:nvSpPr>
          <p:cNvPr id="36" name="Text 25"/>
          <p:cNvSpPr txBox="1"/>
          <p:nvPr/>
        </p:nvSpPr>
        <p:spPr>
          <a:xfrm>
            <a:off x="8382305" y="4381805"/>
            <a:ext cx="3429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C5C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3300" dirty="0"/>
          </a:p>
        </p:txBody>
      </p:sp>
      <p:sp>
        <p:nvSpPr>
          <p:cNvPr id="37" name="Text 26"/>
          <p:cNvSpPr txBox="1"/>
          <p:nvPr/>
        </p:nvSpPr>
        <p:spPr>
          <a:xfrm>
            <a:off x="8382305" y="5238598"/>
            <a:ext cx="3429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사용 가이드</a:t>
            </a:r>
            <a:endParaRPr lang="en-US" sz="1950" dirty="0"/>
          </a:p>
        </p:txBody>
      </p:sp>
      <p:sp>
        <p:nvSpPr>
          <p:cNvPr id="38" name="Text 27"/>
          <p:cNvSpPr txBox="1"/>
          <p:nvPr/>
        </p:nvSpPr>
        <p:spPr>
          <a:xfrm>
            <a:off x="8382305" y="5693969"/>
            <a:ext cx="3429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25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전략, 커밋 컨벤션, 코드리뷰 프로세스를 포함한 형상관리 표준 작업 절차 정립</a:t>
            </a:r>
            <a:endParaRPr lang="en-US" sz="1125" dirty="0"/>
          </a:p>
        </p:txBody>
      </p:sp>
      <p:sp>
        <p:nvSpPr>
          <p:cNvPr id="39" name="Text 28"/>
          <p:cNvSpPr txBox="1"/>
          <p:nvPr/>
        </p:nvSpPr>
        <p:spPr>
          <a:xfrm>
            <a:off x="12954305" y="4381805"/>
            <a:ext cx="3810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C5C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3300" dirty="0"/>
          </a:p>
        </p:txBody>
      </p:sp>
      <p:sp>
        <p:nvSpPr>
          <p:cNvPr id="40" name="Text 29"/>
          <p:cNvSpPr txBox="1"/>
          <p:nvPr/>
        </p:nvSpPr>
        <p:spPr>
          <a:xfrm>
            <a:off x="12954305" y="5238598"/>
            <a:ext cx="3810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외주개발자 투입 전 가이드</a:t>
            </a:r>
            <a:endParaRPr lang="en-US" sz="1950" dirty="0"/>
          </a:p>
        </p:txBody>
      </p:sp>
      <p:sp>
        <p:nvSpPr>
          <p:cNvPr id="41" name="Text 30"/>
          <p:cNvSpPr txBox="1"/>
          <p:nvPr/>
        </p:nvSpPr>
        <p:spPr>
          <a:xfrm>
            <a:off x="12954305" y="5693969"/>
            <a:ext cx="3810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25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전 필수 숙지사항, 온보딩 절차, 산출물 제출 규격을 통합 정의</a:t>
            </a:r>
            <a:endParaRPr lang="en-US" sz="1125" dirty="0"/>
          </a:p>
        </p:txBody>
      </p:sp>
      <p:sp>
        <p:nvSpPr>
          <p:cNvPr id="42" name="Text 31"/>
          <p:cNvSpPr txBox="1"/>
          <p:nvPr/>
        </p:nvSpPr>
        <p:spPr>
          <a:xfrm>
            <a:off x="1714500" y="7715707"/>
            <a:ext cx="3429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25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050" dirty="0"/>
          </a:p>
        </p:txBody>
      </p:sp>
      <p:sp>
        <p:nvSpPr>
          <p:cNvPr id="43" name="Text 32"/>
          <p:cNvSpPr txBox="1"/>
          <p:nvPr/>
        </p:nvSpPr>
        <p:spPr>
          <a:xfrm>
            <a:off x="1714500" y="7953451"/>
            <a:ext cx="3429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5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r>
              <a:rPr lang="en-US" sz="1800" b="1" kern="0" spc="-75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 영역</a:t>
            </a:r>
            <a:endParaRPr lang="en-US" sz="3900" dirty="0"/>
          </a:p>
        </p:txBody>
      </p:sp>
      <p:sp>
        <p:nvSpPr>
          <p:cNvPr id="44" name="Text 33"/>
          <p:cNvSpPr txBox="1"/>
          <p:nvPr/>
        </p:nvSpPr>
        <p:spPr>
          <a:xfrm>
            <a:off x="1714500" y="8524951"/>
            <a:ext cx="3429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· 형상관리 · 외주 인력</a:t>
            </a:r>
            <a:endParaRPr lang="en-US" sz="1125" dirty="0"/>
          </a:p>
        </p:txBody>
      </p:sp>
      <p:sp>
        <p:nvSpPr>
          <p:cNvPr id="45" name="Text 34"/>
          <p:cNvSpPr txBox="1"/>
          <p:nvPr/>
        </p:nvSpPr>
        <p:spPr>
          <a:xfrm>
            <a:off x="6286500" y="7715707"/>
            <a:ext cx="3429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25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46" name="Text 35"/>
          <p:cNvSpPr txBox="1"/>
          <p:nvPr/>
        </p:nvSpPr>
        <p:spPr>
          <a:xfrm>
            <a:off x="6286500" y="7953451"/>
            <a:ext cx="3429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5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r>
              <a:rPr lang="en-US" sz="1800" b="1" kern="0" spc="-75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 가이드</a:t>
            </a:r>
            <a:endParaRPr lang="en-US" sz="3900" dirty="0"/>
          </a:p>
        </p:txBody>
      </p:sp>
      <p:sp>
        <p:nvSpPr>
          <p:cNvPr id="47" name="Text 36"/>
          <p:cNvSpPr txBox="1"/>
          <p:nvPr/>
        </p:nvSpPr>
        <p:spPr>
          <a:xfrm>
            <a:off x="6286500" y="8524951"/>
            <a:ext cx="3429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제정 완료</a:t>
            </a:r>
            <a:endParaRPr lang="en-US" sz="1125" dirty="0"/>
          </a:p>
        </p:txBody>
      </p:sp>
      <p:sp>
        <p:nvSpPr>
          <p:cNvPr id="48" name="Text 37"/>
          <p:cNvSpPr txBox="1"/>
          <p:nvPr/>
        </p:nvSpPr>
        <p:spPr>
          <a:xfrm>
            <a:off x="10858500" y="7715707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25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1050" dirty="0"/>
          </a:p>
        </p:txBody>
      </p:sp>
      <p:sp>
        <p:nvSpPr>
          <p:cNvPr id="49" name="Text 38"/>
          <p:cNvSpPr txBox="1"/>
          <p:nvPr/>
        </p:nvSpPr>
        <p:spPr>
          <a:xfrm>
            <a:off x="10858500" y="7953451"/>
            <a:ext cx="5906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5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2026.06 </a:t>
            </a:r>
            <a:r>
              <a:rPr lang="en-US" sz="2400" b="1" kern="0" spc="-75" dirty="0">
                <a:solidFill>
                  <a:srgbClr val="7A8A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r>
              <a:rPr lang="en-US" sz="3900" b="1" kern="0" spc="-75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08</a:t>
            </a:r>
            <a:endParaRPr lang="en-US" sz="3900" dirty="0"/>
          </a:p>
        </p:txBody>
      </p:sp>
      <p:sp>
        <p:nvSpPr>
          <p:cNvPr id="50" name="Text 39"/>
          <p:cNvSpPr txBox="1"/>
          <p:nvPr/>
        </p:nvSpPr>
        <p:spPr>
          <a:xfrm>
            <a:off x="10858500" y="8524951"/>
            <a:ext cx="5906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3개월간 순차 제정</a:t>
            </a:r>
            <a:endParaRPr lang="en-US" sz="1125" dirty="0"/>
          </a:p>
        </p:txBody>
      </p:sp>
      <p:sp>
        <p:nvSpPr>
          <p:cNvPr id="51" name="Text 40"/>
          <p:cNvSpPr txBox="1"/>
          <p:nvPr/>
        </p:nvSpPr>
        <p:spPr>
          <a:xfrm>
            <a:off x="1143000" y="9715500"/>
            <a:ext cx="37344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8A96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METHODOLOGY REVISION · STATUS REPORT</a:t>
            </a:r>
            <a:endParaRPr lang="en-US" sz="975" dirty="0"/>
          </a:p>
        </p:txBody>
      </p:sp>
      <p:sp>
        <p:nvSpPr>
          <p:cNvPr id="52" name="Text 41"/>
          <p:cNvSpPr txBox="1"/>
          <p:nvPr/>
        </p:nvSpPr>
        <p:spPr>
          <a:xfrm>
            <a:off x="16140989" y="9715500"/>
            <a:ext cx="125272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8A96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02 / 03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23152b2472330089214781b840aae21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3" name="Image 1" descr="gen-dedup-f82dfb75c5f2b7b3330bfb2008b09100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2952598"/>
            <a:ext cx="160020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3810305"/>
            <a:ext cx="1602120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"/>
          <p:cNvSpPr/>
          <p:nvPr/>
        </p:nvSpPr>
        <p:spPr>
          <a:xfrm>
            <a:off x="1143000" y="5333695"/>
            <a:ext cx="7830007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9334195" y="5333695"/>
            <a:ext cx="7810805" cy="4000500"/>
          </a:xfrm>
          <a:prstGeom prst="rect">
            <a:avLst/>
          </a:prstGeom>
          <a:solidFill>
            <a:srgbClr val="1F3D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143000" y="3810305"/>
            <a:ext cx="6400800" cy="666598"/>
          </a:xfrm>
          <a:prstGeom prst="rect">
            <a:avLst/>
          </a:prstGeom>
          <a:solidFill>
            <a:srgbClr val="2D55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7543800" y="3810305"/>
            <a:ext cx="9601200" cy="666598"/>
          </a:xfrm>
          <a:prstGeom prst="rect">
            <a:avLst/>
          </a:prstGeom>
          <a:solidFill>
            <a:srgbClr val="5A8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524305" y="5715000"/>
            <a:ext cx="1143000" cy="267005"/>
          </a:xfrm>
          <a:prstGeom prst="rect">
            <a:avLst/>
          </a:prstGeom>
          <a:solidFill>
            <a:srgbClr val="5A8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gen-dedup-4668a3cfff5b9725e4c71ff5249de04e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524305" y="7048195"/>
            <a:ext cx="571500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715500" y="5715000"/>
            <a:ext cx="1143000" cy="267005"/>
          </a:xfrm>
          <a:prstGeom prst="rect">
            <a:avLst/>
          </a:prstGeom>
          <a:solidFill>
            <a:srgbClr val="5A8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gen-dedup-1f50dae1c601371e264b64e20e95503a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9715500" y="7048195"/>
            <a:ext cx="571500" cy="2834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715500" y="7429500"/>
            <a:ext cx="3258007" cy="1447495"/>
          </a:xfrm>
          <a:prstGeom prst="rect">
            <a:avLst/>
          </a:prstGeom>
          <a:solidFill>
            <a:srgbClr val="2D5548"/>
          </a:solidFill>
          <a:ln w="12700">
            <a:solidFill>
              <a:srgbClr val="3D6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13525805" y="7429500"/>
            <a:ext cx="3258007" cy="1447495"/>
          </a:xfrm>
          <a:prstGeom prst="rect">
            <a:avLst/>
          </a:prstGeom>
          <a:solidFill>
            <a:srgbClr val="2D5548"/>
          </a:solidFill>
          <a:ln w="12700">
            <a:solidFill>
              <a:srgbClr val="3D6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 txBox="1"/>
          <p:nvPr/>
        </p:nvSpPr>
        <p:spPr>
          <a:xfrm>
            <a:off x="1143000" y="6665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300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BRIEFING · 03 / 03</a:t>
            </a:r>
            <a:endParaRPr lang="en-US" sz="1125" dirty="0"/>
          </a:p>
        </p:txBody>
      </p:sp>
      <p:sp>
        <p:nvSpPr>
          <p:cNvPr id="16" name="Text 10"/>
          <p:cNvSpPr txBox="1"/>
          <p:nvPr/>
        </p:nvSpPr>
        <p:spPr>
          <a:xfrm>
            <a:off x="14859000" y="666598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25" kern="0" spc="150" dirty="0">
                <a:solidFill>
                  <a:srgbClr val="7A8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· Q3 REPORT</a:t>
            </a:r>
            <a:endParaRPr lang="en-US" sz="1125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1238098"/>
            <a:ext cx="1600200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 </a:t>
            </a:r>
            <a:r>
              <a:rPr lang="en-US" sz="4800" b="1" kern="0" spc="-112" dirty="0">
                <a:solidFill>
                  <a:srgbClr val="7A8A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4800" b="1" kern="0" spc="-112" dirty="0">
                <a:solidFill>
                  <a:srgbClr val="5A7A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2026.08 ~ 현재</a:t>
            </a:r>
            <a:endParaRPr lang="en-US" sz="48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2190902"/>
            <a:ext cx="1600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A6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 제정 가이드의 실무 적용성 강화와 In-house · SAP 방법론 분리 대응을 병행 추진하고 있습니다.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3333902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25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TIMELINE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1429207" y="3952951"/>
            <a:ext cx="5906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DC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· COMPLETED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429207" y="4134002"/>
            <a:ext cx="5906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 정비 · 가이드 제정 (2026.03 — 2026.08)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830007" y="3952951"/>
            <a:ext cx="9144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· IN PROGRESS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7830007" y="4134002"/>
            <a:ext cx="914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 보완 · 방법론 분리 대응 (2026.08 ~ )</a:t>
            </a:r>
            <a:endParaRPr lang="en-US" sz="1200" dirty="0"/>
          </a:p>
        </p:txBody>
      </p:sp>
      <p:pic>
        <p:nvPicPr>
          <p:cNvPr id="24" name="Image 4" descr="gen-dedup-fbde3e83723e44c8c10f5e57d781c37d.png"/>
          <p:cNvPicPr>
            <a:picLocks noChangeAspect="1"/>
          </p:cNvPicPr>
          <p:nvPr/>
        </p:nvPicPr>
        <p:blipFill>
          <a:blip r:embed="rId7"/>
          <a:srcRect t="-228" b="-228"/>
          <a:stretch/>
        </p:blipFill>
        <p:spPr>
          <a:xfrm>
            <a:off x="7505395" y="3715207"/>
            <a:ext cx="75895" cy="8577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4207" y="4619549"/>
            <a:ext cx="8577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F2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524305" y="5715000"/>
            <a:ext cx="1143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01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6858000" y="5619902"/>
            <a:ext cx="1714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600" dirty="0">
                <a:solidFill>
                  <a:srgbClr val="C5C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600" dirty="0"/>
          </a:p>
        </p:txBody>
      </p:sp>
      <p:sp>
        <p:nvSpPr>
          <p:cNvPr id="28" name="Text 21"/>
          <p:cNvSpPr txBox="1"/>
          <p:nvPr/>
        </p:nvSpPr>
        <p:spPr>
          <a:xfrm>
            <a:off x="1524305" y="6191402"/>
            <a:ext cx="7049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-37" dirty="0">
                <a:solidFill>
                  <a:srgbClr val="0F2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 보완</a:t>
            </a:r>
            <a:endParaRPr lang="en-US" sz="2250" dirty="0"/>
          </a:p>
        </p:txBody>
      </p:sp>
      <p:sp>
        <p:nvSpPr>
          <p:cNvPr id="29" name="Text 22"/>
          <p:cNvSpPr txBox="1"/>
          <p:nvPr/>
        </p:nvSpPr>
        <p:spPr>
          <a:xfrm>
            <a:off x="1524305" y="6667805"/>
            <a:ext cx="7049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7A8A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피드백 반영 · 세부 시나리오 보강</a:t>
            </a:r>
            <a:endParaRPr lang="en-US" sz="1125" dirty="0"/>
          </a:p>
        </p:txBody>
      </p:sp>
      <p:sp>
        <p:nvSpPr>
          <p:cNvPr id="30" name="Shape 23"/>
          <p:cNvSpPr/>
          <p:nvPr/>
        </p:nvSpPr>
        <p:spPr>
          <a:xfrm>
            <a:off x="1524305" y="7858354"/>
            <a:ext cx="7048195" cy="9144"/>
          </a:xfrm>
          <a:prstGeom prst="rect">
            <a:avLst/>
          </a:prstGeom>
          <a:solidFill>
            <a:srgbClr val="EEF2EF"/>
          </a:solidFill>
          <a:ln w="12700">
            <a:solidFill>
              <a:srgbClr val="EEF2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1524305" y="7515454"/>
            <a:ext cx="3429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1867205" y="7467905"/>
            <a:ext cx="196870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설계표준 정의 가이드</a:t>
            </a:r>
            <a:endParaRPr lang="en-US" sz="1425" dirty="0"/>
          </a:p>
        </p:txBody>
      </p:sp>
      <p:sp>
        <p:nvSpPr>
          <p:cNvPr id="33" name="Shape 26"/>
          <p:cNvSpPr/>
          <p:nvPr/>
        </p:nvSpPr>
        <p:spPr>
          <a:xfrm>
            <a:off x="1524305" y="8391449"/>
            <a:ext cx="7048195" cy="9144"/>
          </a:xfrm>
          <a:prstGeom prst="rect">
            <a:avLst/>
          </a:prstGeom>
          <a:solidFill>
            <a:srgbClr val="EEF2EF"/>
          </a:solidFill>
          <a:ln w="12700">
            <a:solidFill>
              <a:srgbClr val="EEF2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 txBox="1"/>
          <p:nvPr/>
        </p:nvSpPr>
        <p:spPr>
          <a:xfrm>
            <a:off x="1524305" y="8048549"/>
            <a:ext cx="3429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1867205" y="8001000"/>
            <a:ext cx="1466698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보안코딩 가이드</a:t>
            </a:r>
            <a:endParaRPr lang="en-US" sz="1425" dirty="0"/>
          </a:p>
        </p:txBody>
      </p:sp>
      <p:sp>
        <p:nvSpPr>
          <p:cNvPr id="36" name="Text 29"/>
          <p:cNvSpPr txBox="1"/>
          <p:nvPr/>
        </p:nvSpPr>
        <p:spPr>
          <a:xfrm>
            <a:off x="1524305" y="8581644"/>
            <a:ext cx="3429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A8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1867205" y="8534095"/>
            <a:ext cx="127467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3D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가이드</a:t>
            </a:r>
            <a:endParaRPr lang="en-US" sz="1425" dirty="0"/>
          </a:p>
        </p:txBody>
      </p:sp>
      <p:sp>
        <p:nvSpPr>
          <p:cNvPr id="38" name="Text 31"/>
          <p:cNvSpPr txBox="1"/>
          <p:nvPr/>
        </p:nvSpPr>
        <p:spPr>
          <a:xfrm>
            <a:off x="9715500" y="5715000"/>
            <a:ext cx="1143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02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15049195" y="5619902"/>
            <a:ext cx="1714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600" dirty="0">
                <a:solidFill>
                  <a:srgbClr val="3D6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600" dirty="0"/>
          </a:p>
        </p:txBody>
      </p:sp>
      <p:sp>
        <p:nvSpPr>
          <p:cNvPr id="40" name="Text 33"/>
          <p:cNvSpPr txBox="1"/>
          <p:nvPr/>
        </p:nvSpPr>
        <p:spPr>
          <a:xfrm>
            <a:off x="9715500" y="6191402"/>
            <a:ext cx="7049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25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지침 </a:t>
            </a:r>
            <a:r>
              <a:rPr lang="en-US" sz="2250" b="1" kern="0" spc="-37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</a:t>
            </a:r>
            <a:r>
              <a:rPr lang="en-US" sz="225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수정</a:t>
            </a:r>
            <a:endParaRPr lang="en-US" sz="2250" dirty="0"/>
          </a:p>
        </p:txBody>
      </p:sp>
      <p:sp>
        <p:nvSpPr>
          <p:cNvPr id="41" name="Text 34"/>
          <p:cNvSpPr txBox="1"/>
          <p:nvPr/>
        </p:nvSpPr>
        <p:spPr>
          <a:xfrm>
            <a:off x="9715500" y="6667805"/>
            <a:ext cx="7049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9DC9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In-house · SAP 개발방법론 분리 대응</a:t>
            </a:r>
            <a:endParaRPr lang="en-US" sz="1125" dirty="0"/>
          </a:p>
        </p:txBody>
      </p:sp>
      <p:sp>
        <p:nvSpPr>
          <p:cNvPr id="42" name="Text 35"/>
          <p:cNvSpPr txBox="1"/>
          <p:nvPr/>
        </p:nvSpPr>
        <p:spPr>
          <a:xfrm>
            <a:off x="10001707" y="7715707"/>
            <a:ext cx="2667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DC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0001707" y="7934249"/>
            <a:ext cx="2667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In-house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개발방법론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13811098" y="7715707"/>
            <a:ext cx="2667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DC9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3811098" y="7934249"/>
            <a:ext cx="2667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SAP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개발방법론</a:t>
            </a:r>
            <a:endParaRPr lang="en-US" sz="1800" dirty="0"/>
          </a:p>
        </p:txBody>
      </p:sp>
      <p:pic>
        <p:nvPicPr>
          <p:cNvPr id="46" name="Image 5" descr="gen-dedup-de93b19489abb426de35c4499a1437fa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12954305" y="8124444"/>
            <a:ext cx="571500" cy="1920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12954305" y="8191195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AB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⇄</a:t>
            </a:r>
            <a:endParaRPr lang="en-US" sz="1200" dirty="0"/>
          </a:p>
        </p:txBody>
      </p:sp>
      <p:sp>
        <p:nvSpPr>
          <p:cNvPr id="48" name="Text 40"/>
          <p:cNvSpPr txBox="1"/>
          <p:nvPr/>
        </p:nvSpPr>
        <p:spPr>
          <a:xfrm>
            <a:off x="9715500" y="9029700"/>
            <a:ext cx="7049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B8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 분리에 따른 지침서 별도 트랙 운영 · 상호 참조 규칙 정립</a:t>
            </a:r>
            <a:endParaRPr lang="en-US" sz="1050" dirty="0"/>
          </a:p>
        </p:txBody>
      </p:sp>
      <p:sp>
        <p:nvSpPr>
          <p:cNvPr id="49" name="Text 41"/>
          <p:cNvSpPr txBox="1"/>
          <p:nvPr/>
        </p:nvSpPr>
        <p:spPr>
          <a:xfrm>
            <a:off x="1143000" y="9715500"/>
            <a:ext cx="37344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8A96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METHODOLOGY REVISION · STATUS REPORT</a:t>
            </a:r>
            <a:endParaRPr lang="en-US" sz="975" dirty="0"/>
          </a:p>
        </p:txBody>
      </p:sp>
      <p:sp>
        <p:nvSpPr>
          <p:cNvPr id="50" name="Text 42"/>
          <p:cNvSpPr txBox="1"/>
          <p:nvPr/>
        </p:nvSpPr>
        <p:spPr>
          <a:xfrm>
            <a:off x="16140074" y="9715500"/>
            <a:ext cx="125272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8A96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03 / 03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55c7dc3-d019-40fa-a91f-518114ee30cb}" enabled="1" method="Standard" siteId="{a0863201-77ea-4254-a23b-acb1c17a3ad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441</Words>
  <Application>Microsoft Office PowerPoint</Application>
  <PresentationFormat>사용자 지정</PresentationFormat>
  <Paragraphs>114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Inter</vt:lpstr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홍진완 Legacy운영팀(HONG JINWAN)</cp:lastModifiedBy>
  <cp:revision>17</cp:revision>
  <dcterms:created xsi:type="dcterms:W3CDTF">2026-09-02T06:27:39Z</dcterms:created>
  <dcterms:modified xsi:type="dcterms:W3CDTF">2026-09-02T23:55:18Z</dcterms:modified>
</cp:coreProperties>
</file>